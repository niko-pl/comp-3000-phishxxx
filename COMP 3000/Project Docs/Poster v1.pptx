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0240288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85C60D5-7C17-470B-92D0-B1DF036D2D7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325"/>
    <a:srgbClr val="00B050"/>
    <a:srgbClr val="104862"/>
    <a:srgbClr val="005AAA"/>
    <a:srgbClr val="E8FABC"/>
    <a:srgbClr val="F2DF90"/>
    <a:srgbClr val="0B6F97"/>
    <a:srgbClr val="5687F4"/>
    <a:srgbClr val="40C9DC"/>
    <a:srgbClr val="4CB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34" d="100"/>
          <a:sy n="34" d="100"/>
        </p:scale>
        <p:origin x="93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5E655-3E9C-4D0B-9B3A-E0503989BECC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670C2-20F2-4C98-B4B6-BA3F32D2EC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188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670C2-20F2-4C98-B4B6-BA3F32D2EC6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974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3499590"/>
            <a:ext cx="25704245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11231355"/>
            <a:ext cx="22680216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9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04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5331063"/>
            <a:ext cx="26082248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14310205"/>
            <a:ext cx="26082248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>
                    <a:tint val="82000"/>
                  </a:schemeClr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82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149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5692400"/>
            <a:ext cx="12852122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5692400"/>
            <a:ext cx="12852122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73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138485"/>
            <a:ext cx="26082248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5241960"/>
            <a:ext cx="12793057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7810963"/>
            <a:ext cx="12793057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5241960"/>
            <a:ext cx="12856061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7810963"/>
            <a:ext cx="12856061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057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90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85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425575"/>
            <a:ext cx="9753280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3078850"/>
            <a:ext cx="15309146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6415088"/>
            <a:ext cx="9753280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512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425575"/>
            <a:ext cx="9753280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3078850"/>
            <a:ext cx="15309146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6415088"/>
            <a:ext cx="9753280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440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145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1138480"/>
            <a:ext cx="6520562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1138480"/>
            <a:ext cx="19183683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CAC4-BE84-4AD5-A69A-AD6C07B5E002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3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1138485"/>
            <a:ext cx="26082248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5692400"/>
            <a:ext cx="26082248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19819457"/>
            <a:ext cx="6804065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8CAC4-BE84-4AD5-A69A-AD6C07B5E002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19819457"/>
            <a:ext cx="10206097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19819457"/>
            <a:ext cx="6804065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5F3A5D-A4DE-4FBF-87BB-6E31A13C1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385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hyperlink" Target="https://github.com/rf-peixoto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3000">
              <a:schemeClr val="accent1">
                <a:lumMod val="45000"/>
                <a:lumOff val="55000"/>
              </a:schemeClr>
            </a:gs>
            <a:gs pos="73000">
              <a:schemeClr val="accent1">
                <a:lumMod val="45000"/>
                <a:lumOff val="55000"/>
              </a:schemeClr>
            </a:gs>
            <a:gs pos="100000">
              <a:srgbClr val="4CB3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FCD745-AC0B-68EA-DD6D-96E875561D25}"/>
              </a:ext>
            </a:extLst>
          </p:cNvPr>
          <p:cNvSpPr/>
          <p:nvPr/>
        </p:nvSpPr>
        <p:spPr>
          <a:xfrm>
            <a:off x="9313921" y="3307341"/>
            <a:ext cx="5735396" cy="17752269"/>
          </a:xfrm>
          <a:prstGeom prst="rect">
            <a:avLst/>
          </a:prstGeom>
          <a:gradFill flip="none" rotWithShape="1">
            <a:gsLst>
              <a:gs pos="50000">
                <a:srgbClr val="E8FABC"/>
              </a:gs>
              <a:gs pos="0">
                <a:srgbClr val="40C9DC"/>
              </a:gs>
              <a:gs pos="100000">
                <a:srgbClr val="00206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2AA15A-4869-9475-6813-E26325CD2D34}"/>
              </a:ext>
            </a:extLst>
          </p:cNvPr>
          <p:cNvSpPr/>
          <p:nvPr/>
        </p:nvSpPr>
        <p:spPr>
          <a:xfrm>
            <a:off x="0" y="2128197"/>
            <a:ext cx="9320743" cy="18931414"/>
          </a:xfrm>
          <a:prstGeom prst="rect">
            <a:avLst/>
          </a:prstGeom>
          <a:gradFill flip="none" rotWithShape="1">
            <a:gsLst>
              <a:gs pos="0">
                <a:srgbClr val="40C9DC"/>
              </a:gs>
              <a:gs pos="50000">
                <a:srgbClr val="E8FABC"/>
              </a:gs>
              <a:gs pos="100000">
                <a:srgbClr val="00206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27094BB1-FB5F-3296-F57C-4887A2B6FC1C}"/>
              </a:ext>
            </a:extLst>
          </p:cNvPr>
          <p:cNvSpPr/>
          <p:nvPr/>
        </p:nvSpPr>
        <p:spPr>
          <a:xfrm>
            <a:off x="3266099" y="17547736"/>
            <a:ext cx="5891130" cy="320310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065F60-2056-D119-66A1-69D7EF11C765}"/>
              </a:ext>
            </a:extLst>
          </p:cNvPr>
          <p:cNvSpPr/>
          <p:nvPr/>
        </p:nvSpPr>
        <p:spPr>
          <a:xfrm>
            <a:off x="410369" y="228599"/>
            <a:ext cx="29451900" cy="82867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D93325"/>
              </a:gs>
            </a:gsLst>
            <a:lin ang="5400000" scaled="1"/>
          </a:gra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i="1" u="sng" dirty="0">
                <a:solidFill>
                  <a:schemeClr val="tx1"/>
                </a:solidFill>
              </a:rPr>
              <a:t>Phish Hussar – Anti Phishing Assistant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C28631-CF24-BF80-5A69-50BDCF450D5E}"/>
              </a:ext>
            </a:extLst>
          </p:cNvPr>
          <p:cNvSpPr/>
          <p:nvPr/>
        </p:nvSpPr>
        <p:spPr>
          <a:xfrm>
            <a:off x="410369" y="2621448"/>
            <a:ext cx="8305006" cy="36632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A5A5A0-131B-64E7-8D0A-A3BAF48B7B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179" b="6605"/>
          <a:stretch>
            <a:fillRect/>
          </a:stretch>
        </p:blipFill>
        <p:spPr>
          <a:xfrm>
            <a:off x="680725" y="2891020"/>
            <a:ext cx="7842401" cy="311388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7291B84-D57A-BF76-D77F-BAFF1C59190E}"/>
              </a:ext>
            </a:extLst>
          </p:cNvPr>
          <p:cNvSpPr/>
          <p:nvPr/>
        </p:nvSpPr>
        <p:spPr>
          <a:xfrm>
            <a:off x="1046817" y="4170086"/>
            <a:ext cx="487768" cy="312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7EA16E-80E2-C718-CF45-C4015FADA255}"/>
              </a:ext>
            </a:extLst>
          </p:cNvPr>
          <p:cNvSpPr/>
          <p:nvPr/>
        </p:nvSpPr>
        <p:spPr>
          <a:xfrm>
            <a:off x="2257828" y="3642776"/>
            <a:ext cx="655964" cy="351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A1CC35-84EA-1257-BBB7-2F78F97EF21E}"/>
              </a:ext>
            </a:extLst>
          </p:cNvPr>
          <p:cNvSpPr/>
          <p:nvPr/>
        </p:nvSpPr>
        <p:spPr>
          <a:xfrm>
            <a:off x="2892430" y="3857606"/>
            <a:ext cx="1211011" cy="312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75574B-180C-8998-BAE2-CDB574C55326}"/>
              </a:ext>
            </a:extLst>
          </p:cNvPr>
          <p:cNvSpPr/>
          <p:nvPr/>
        </p:nvSpPr>
        <p:spPr>
          <a:xfrm>
            <a:off x="1122505" y="2891020"/>
            <a:ext cx="891438" cy="312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F164E04-955D-DFA8-0A6C-F9ADDF5E9051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2013943" y="3047260"/>
            <a:ext cx="6892209" cy="146889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9058353-521E-41A6-8C06-BB0DC9BE4E92}"/>
              </a:ext>
            </a:extLst>
          </p:cNvPr>
          <p:cNvCxnSpPr>
            <a:cxnSpLocks/>
            <a:stCxn id="13" idx="0"/>
            <a:endCxn id="20" idx="1"/>
          </p:cNvCxnSpPr>
          <p:nvPr/>
        </p:nvCxnSpPr>
        <p:spPr>
          <a:xfrm rot="16200000" flipH="1">
            <a:off x="5309291" y="919294"/>
            <a:ext cx="873379" cy="6320342"/>
          </a:xfrm>
          <a:prstGeom prst="bentConnector4">
            <a:avLst>
              <a:gd name="adj1" fmla="val -26174"/>
              <a:gd name="adj2" fmla="val 52595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1BFD80B-C6A4-C252-B3A2-DEE58A93056D}"/>
              </a:ext>
            </a:extLst>
          </p:cNvPr>
          <p:cNvSpPr/>
          <p:nvPr/>
        </p:nvSpPr>
        <p:spPr>
          <a:xfrm>
            <a:off x="8906152" y="4013846"/>
            <a:ext cx="2334136" cy="1004618"/>
          </a:xfrm>
          <a:prstGeom prst="rect">
            <a:avLst/>
          </a:prstGeom>
          <a:solidFill>
            <a:srgbClr val="00B05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Language Used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8F3D05-20A2-3BCF-D718-F7BF0A1CA68D}"/>
              </a:ext>
            </a:extLst>
          </p:cNvPr>
          <p:cNvSpPr/>
          <p:nvPr/>
        </p:nvSpPr>
        <p:spPr>
          <a:xfrm>
            <a:off x="8948115" y="5545826"/>
            <a:ext cx="2901322" cy="202173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Generic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Fear Educing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Urging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Time Sensitive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2400" dirty="0"/>
              <a:t>Relocating user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3FA4B5-3AEC-7E27-2697-F537AAD0983D}"/>
              </a:ext>
            </a:extLst>
          </p:cNvPr>
          <p:cNvCxnSpPr>
            <a:cxnSpLocks/>
            <a:stCxn id="12" idx="3"/>
            <a:endCxn id="38" idx="0"/>
          </p:cNvCxnSpPr>
          <p:nvPr/>
        </p:nvCxnSpPr>
        <p:spPr>
          <a:xfrm>
            <a:off x="1534585" y="4326326"/>
            <a:ext cx="275084" cy="2375444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ED45B23E-4E3C-0637-0EB3-F46346990308}"/>
              </a:ext>
            </a:extLst>
          </p:cNvPr>
          <p:cNvSpPr/>
          <p:nvPr/>
        </p:nvSpPr>
        <p:spPr>
          <a:xfrm>
            <a:off x="260318" y="6701770"/>
            <a:ext cx="3098701" cy="152123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u="sng" dirty="0"/>
              <a:t>Link</a:t>
            </a:r>
          </a:p>
          <a:p>
            <a:r>
              <a:rPr lang="en-GB" sz="2400" dirty="0"/>
              <a:t>Where does it lead?</a:t>
            </a:r>
          </a:p>
          <a:p>
            <a:r>
              <a:rPr lang="en-GB" sz="2400" dirty="0"/>
              <a:t>Is it safe?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2BBBD32-32BC-0B49-AB17-3B78F160996F}"/>
              </a:ext>
            </a:extLst>
          </p:cNvPr>
          <p:cNvCxnSpPr>
            <a:cxnSpLocks/>
            <a:stCxn id="20" idx="2"/>
            <a:endCxn id="31" idx="0"/>
          </p:cNvCxnSpPr>
          <p:nvPr/>
        </p:nvCxnSpPr>
        <p:spPr>
          <a:xfrm rot="16200000" flipH="1">
            <a:off x="9972317" y="5119367"/>
            <a:ext cx="527362" cy="32555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4CDF873-CA58-336D-5EA5-771308EB758A}"/>
              </a:ext>
            </a:extLst>
          </p:cNvPr>
          <p:cNvCxnSpPr>
            <a:cxnSpLocks/>
            <a:stCxn id="38" idx="3"/>
            <a:endCxn id="45" idx="1"/>
          </p:cNvCxnSpPr>
          <p:nvPr/>
        </p:nvCxnSpPr>
        <p:spPr>
          <a:xfrm flipV="1">
            <a:off x="3359019" y="7360963"/>
            <a:ext cx="470399" cy="101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14AD4CB4-9E1C-8DE9-2E20-EF7271B35D75}"/>
              </a:ext>
            </a:extLst>
          </p:cNvPr>
          <p:cNvSpPr/>
          <p:nvPr/>
        </p:nvSpPr>
        <p:spPr>
          <a:xfrm>
            <a:off x="3829418" y="6952086"/>
            <a:ext cx="3692259" cy="81775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https</a:t>
            </a:r>
            <a:r>
              <a:rPr lang="en-GB" sz="2000" dirty="0"/>
              <a:t>\\:</a:t>
            </a:r>
            <a:r>
              <a:rPr lang="en-GB" sz="2000" dirty="0">
                <a:solidFill>
                  <a:srgbClr val="00B050"/>
                </a:solidFill>
              </a:rPr>
              <a:t>goodsite.uk</a:t>
            </a:r>
            <a:r>
              <a:rPr lang="en-GB" sz="2000" dirty="0">
                <a:solidFill>
                  <a:schemeClr val="tx1"/>
                </a:solidFill>
              </a:rPr>
              <a:t>/</a:t>
            </a:r>
            <a:r>
              <a:rPr lang="en-GB" sz="2000" dirty="0">
                <a:solidFill>
                  <a:srgbClr val="FFC000"/>
                </a:solidFill>
              </a:rPr>
              <a:t>QstH3fE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358F7A-3F57-4BE7-A8E1-F8603E2C5A5E}"/>
              </a:ext>
            </a:extLst>
          </p:cNvPr>
          <p:cNvSpPr/>
          <p:nvPr/>
        </p:nvSpPr>
        <p:spPr>
          <a:xfrm>
            <a:off x="4700345" y="8274979"/>
            <a:ext cx="1950403" cy="74106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Find where it leads to?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566ADC8-9D48-6870-AFAD-AD2130DB1140}"/>
              </a:ext>
            </a:extLst>
          </p:cNvPr>
          <p:cNvCxnSpPr>
            <a:cxnSpLocks/>
            <a:stCxn id="45" idx="2"/>
            <a:endCxn id="56" idx="0"/>
          </p:cNvCxnSpPr>
          <p:nvPr/>
        </p:nvCxnSpPr>
        <p:spPr>
          <a:xfrm flipH="1">
            <a:off x="5675547" y="7769839"/>
            <a:ext cx="1" cy="50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C0FEF39C-2F10-9473-7CDB-CE13A74F8ACA}"/>
              </a:ext>
            </a:extLst>
          </p:cNvPr>
          <p:cNvSpPr/>
          <p:nvPr/>
        </p:nvSpPr>
        <p:spPr>
          <a:xfrm>
            <a:off x="10554786" y="10503217"/>
            <a:ext cx="1866930" cy="73548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</a:t>
            </a:r>
            <a:r>
              <a:rPr lang="en-GB" sz="2400" b="1" dirty="0">
                <a:solidFill>
                  <a:schemeClr val="tx1"/>
                </a:solidFill>
              </a:rPr>
              <a:t>WHOIS</a:t>
            </a:r>
            <a:r>
              <a:rPr lang="en-GB" sz="2400" dirty="0">
                <a:solidFill>
                  <a:schemeClr val="tx1"/>
                </a:solidFill>
              </a:rPr>
              <a:t> DATA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BFBB620-63D1-CC98-BFAE-A7CCB0B0EB56}"/>
              </a:ext>
            </a:extLst>
          </p:cNvPr>
          <p:cNvSpPr/>
          <p:nvPr/>
        </p:nvSpPr>
        <p:spPr>
          <a:xfrm>
            <a:off x="4748963" y="9532480"/>
            <a:ext cx="2044142" cy="166674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Get Risk assessment from </a:t>
            </a:r>
            <a:r>
              <a:rPr lang="en-GB" sz="2400" b="1" dirty="0">
                <a:solidFill>
                  <a:schemeClr val="tx1"/>
                </a:solidFill>
              </a:rPr>
              <a:t>VirusTotal</a:t>
            </a:r>
            <a:r>
              <a:rPr lang="en-GB" sz="2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1649D3E-584E-6AE5-EE03-39A2CA9545EC}"/>
              </a:ext>
            </a:extLst>
          </p:cNvPr>
          <p:cNvSpPr/>
          <p:nvPr/>
        </p:nvSpPr>
        <p:spPr>
          <a:xfrm>
            <a:off x="7269573" y="8503654"/>
            <a:ext cx="3732027" cy="5372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rgbClr val="FF0000"/>
                </a:solidFill>
              </a:rPr>
              <a:t>http</a:t>
            </a:r>
            <a:r>
              <a:rPr lang="en-GB" sz="2400" dirty="0"/>
              <a:t>\\:</a:t>
            </a:r>
            <a:r>
              <a:rPr lang="en-GB" sz="2400" dirty="0">
                <a:solidFill>
                  <a:srgbClr val="00B050"/>
                </a:solidFill>
              </a:rPr>
              <a:t>badsite.ve</a:t>
            </a:r>
            <a:r>
              <a:rPr lang="en-GB" sz="2400" dirty="0"/>
              <a:t>/</a:t>
            </a:r>
            <a:r>
              <a:rPr lang="en-GB" sz="2400" dirty="0">
                <a:solidFill>
                  <a:srgbClr val="FFC000"/>
                </a:solidFill>
              </a:rPr>
              <a:t>virus.exe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EFFFADC-3B90-18C6-5C2E-65D80EA97AAF}"/>
              </a:ext>
            </a:extLst>
          </p:cNvPr>
          <p:cNvCxnSpPr>
            <a:cxnSpLocks/>
            <a:stCxn id="56" idx="3"/>
            <a:endCxn id="77" idx="1"/>
          </p:cNvCxnSpPr>
          <p:nvPr/>
        </p:nvCxnSpPr>
        <p:spPr>
          <a:xfrm>
            <a:off x="6650748" y="8645514"/>
            <a:ext cx="618825" cy="126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E5AB13AA-3BC4-0113-1C4D-5BE981CB6224}"/>
              </a:ext>
            </a:extLst>
          </p:cNvPr>
          <p:cNvCxnSpPr>
            <a:cxnSpLocks/>
            <a:stCxn id="77" idx="0"/>
            <a:endCxn id="73" idx="0"/>
          </p:cNvCxnSpPr>
          <p:nvPr/>
        </p:nvCxnSpPr>
        <p:spPr>
          <a:xfrm rot="16200000" flipH="1">
            <a:off x="9312137" y="8327103"/>
            <a:ext cx="1999563" cy="2352664"/>
          </a:xfrm>
          <a:prstGeom prst="bentConnector3">
            <a:avLst>
              <a:gd name="adj1" fmla="val -1143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01492B3C-8357-DA94-13D6-C55DAB35C439}"/>
              </a:ext>
            </a:extLst>
          </p:cNvPr>
          <p:cNvCxnSpPr>
            <a:cxnSpLocks/>
            <a:stCxn id="77" idx="2"/>
            <a:endCxn id="74" idx="0"/>
          </p:cNvCxnSpPr>
          <p:nvPr/>
        </p:nvCxnSpPr>
        <p:spPr>
          <a:xfrm rot="5400000">
            <a:off x="7207526" y="7604419"/>
            <a:ext cx="491570" cy="33645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63615C1B-C76B-B1DF-4BD6-4A27CE42FCCA}"/>
              </a:ext>
            </a:extLst>
          </p:cNvPr>
          <p:cNvSpPr/>
          <p:nvPr/>
        </p:nvSpPr>
        <p:spPr>
          <a:xfrm>
            <a:off x="7272261" y="10164454"/>
            <a:ext cx="2951157" cy="1655697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u="sng" dirty="0">
                <a:solidFill>
                  <a:schemeClr val="tx1"/>
                </a:solidFill>
              </a:rPr>
              <a:t>Analyse</a:t>
            </a:r>
          </a:p>
          <a:p>
            <a:pPr marL="228600" indent="-228600" algn="ctr">
              <a:buFont typeface="+mj-lt"/>
              <a:buAutoNum type="arabicPeriod"/>
            </a:pPr>
            <a:r>
              <a:rPr lang="en-GB" sz="2400" dirty="0">
                <a:solidFill>
                  <a:srgbClr val="FF0000"/>
                </a:solidFill>
              </a:rPr>
              <a:t>Protocol</a:t>
            </a:r>
          </a:p>
          <a:p>
            <a:pPr marL="228600" indent="-228600" algn="ctr">
              <a:buFont typeface="+mj-lt"/>
              <a:buAutoNum type="arabicPeriod"/>
            </a:pPr>
            <a:r>
              <a:rPr lang="en-GB" sz="2400" dirty="0">
                <a:solidFill>
                  <a:srgbClr val="00B050"/>
                </a:solidFill>
              </a:rPr>
              <a:t>Domain Name</a:t>
            </a:r>
          </a:p>
          <a:p>
            <a:pPr marL="228600" indent="-228600" algn="ctr">
              <a:buFont typeface="+mj-lt"/>
              <a:buAutoNum type="arabicPeriod"/>
            </a:pPr>
            <a:r>
              <a:rPr lang="en-GB" sz="2400" dirty="0">
                <a:solidFill>
                  <a:srgbClr val="FFFF00"/>
                </a:solidFill>
              </a:rPr>
              <a:t>Extension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7C4F950-513F-CDB5-28FB-92C0E97A75DF}"/>
              </a:ext>
            </a:extLst>
          </p:cNvPr>
          <p:cNvSpPr/>
          <p:nvPr/>
        </p:nvSpPr>
        <p:spPr>
          <a:xfrm>
            <a:off x="9673501" y="12048391"/>
            <a:ext cx="2827232" cy="154195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u="sng" dirty="0">
                <a:solidFill>
                  <a:schemeClr val="tx1"/>
                </a:solidFill>
              </a:rPr>
              <a:t>Analyse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4.Age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5.Certificate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6.Expiration Date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24AB41B-3204-916D-0751-93B1DEC46E5D}"/>
              </a:ext>
            </a:extLst>
          </p:cNvPr>
          <p:cNvSpPr/>
          <p:nvPr/>
        </p:nvSpPr>
        <p:spPr>
          <a:xfrm>
            <a:off x="3491398" y="11831314"/>
            <a:ext cx="2417893" cy="18817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Compile analysis and create Risk Score</a:t>
            </a:r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430A0D1C-5E49-CE90-0ADD-C2DA13E60A04}"/>
              </a:ext>
            </a:extLst>
          </p:cNvPr>
          <p:cNvCxnSpPr>
            <a:cxnSpLocks/>
            <a:stCxn id="74" idx="2"/>
            <a:endCxn id="93" idx="0"/>
          </p:cNvCxnSpPr>
          <p:nvPr/>
        </p:nvCxnSpPr>
        <p:spPr>
          <a:xfrm rot="5400000">
            <a:off x="4919646" y="10979926"/>
            <a:ext cx="632088" cy="10706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3920AACE-BF2B-1497-05EA-6C7F3645692D}"/>
              </a:ext>
            </a:extLst>
          </p:cNvPr>
          <p:cNvCxnSpPr>
            <a:cxnSpLocks/>
            <a:stCxn id="93" idx="1"/>
            <a:endCxn id="106" idx="0"/>
          </p:cNvCxnSpPr>
          <p:nvPr/>
        </p:nvCxnSpPr>
        <p:spPr>
          <a:xfrm rot="10800000" flipH="1" flipV="1">
            <a:off x="3491398" y="12772212"/>
            <a:ext cx="1010720" cy="1775506"/>
          </a:xfrm>
          <a:prstGeom prst="bentConnector4">
            <a:avLst>
              <a:gd name="adj1" fmla="val -22618"/>
              <a:gd name="adj2" fmla="val 7649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D04E84D-18CD-C109-DCA5-AE151BDA6BDD}"/>
              </a:ext>
            </a:extLst>
          </p:cNvPr>
          <p:cNvSpPr/>
          <p:nvPr/>
        </p:nvSpPr>
        <p:spPr>
          <a:xfrm>
            <a:off x="12432418" y="5202301"/>
            <a:ext cx="2052521" cy="855048"/>
          </a:xfrm>
          <a:prstGeom prst="rect">
            <a:avLst/>
          </a:prstGeom>
          <a:solidFill>
            <a:srgbClr val="00B05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Scan and analyse</a:t>
            </a:r>
          </a:p>
        </p:txBody>
      </p: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744198A7-A1A4-F4FF-4E6E-8D7C33518A84}"/>
              </a:ext>
            </a:extLst>
          </p:cNvPr>
          <p:cNvCxnSpPr>
            <a:cxnSpLocks/>
            <a:stCxn id="31" idx="3"/>
            <a:endCxn id="110" idx="1"/>
          </p:cNvCxnSpPr>
          <p:nvPr/>
        </p:nvCxnSpPr>
        <p:spPr>
          <a:xfrm flipV="1">
            <a:off x="11849437" y="5629825"/>
            <a:ext cx="582981" cy="926870"/>
          </a:xfrm>
          <a:prstGeom prst="bentConnector3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E211D6C-7A7C-7ABB-C5C8-62056ED2A2E2}"/>
              </a:ext>
            </a:extLst>
          </p:cNvPr>
          <p:cNvSpPr/>
          <p:nvPr/>
        </p:nvSpPr>
        <p:spPr>
          <a:xfrm>
            <a:off x="12161499" y="3628467"/>
            <a:ext cx="1423859" cy="846803"/>
          </a:xfrm>
          <a:prstGeom prst="rect">
            <a:avLst/>
          </a:prstGeom>
          <a:solidFill>
            <a:srgbClr val="C0000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Display</a:t>
            </a:r>
            <a:endParaRPr lang="en-GB" dirty="0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D667CA0-4043-B792-F4A4-1702DFEDBBAE}"/>
              </a:ext>
            </a:extLst>
          </p:cNvPr>
          <p:cNvSpPr/>
          <p:nvPr/>
        </p:nvSpPr>
        <p:spPr>
          <a:xfrm>
            <a:off x="15487810" y="6180261"/>
            <a:ext cx="4824248" cy="33522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u="sng" dirty="0"/>
              <a:t>Software Deployment</a:t>
            </a:r>
            <a:endParaRPr lang="en-GB" sz="2400" b="1" u="sng" dirty="0"/>
          </a:p>
          <a:p>
            <a:pPr marL="228600" indent="-228600">
              <a:buFont typeface="+mj-lt"/>
              <a:buAutoNum type="arabicPeriod"/>
            </a:pPr>
            <a:r>
              <a:rPr lang="en-GB" sz="2400" dirty="0"/>
              <a:t>Download Software File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2400" dirty="0"/>
              <a:t>Add file to extensions in browser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2400" dirty="0"/>
              <a:t>Add API keys in software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2400" dirty="0"/>
              <a:t>Modify Settings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2400" dirty="0"/>
              <a:t>Open Gmail and use!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2B88913-144B-2B99-4166-8BDCE5FBF48B}"/>
              </a:ext>
            </a:extLst>
          </p:cNvPr>
          <p:cNvSpPr/>
          <p:nvPr/>
        </p:nvSpPr>
        <p:spPr>
          <a:xfrm>
            <a:off x="571938" y="17612525"/>
            <a:ext cx="2537541" cy="302738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u="sng" dirty="0"/>
              <a:t>Code Base</a:t>
            </a:r>
          </a:p>
          <a:p>
            <a:pPr algn="ctr"/>
            <a:r>
              <a:rPr lang="en-GB" sz="2000" b="1" dirty="0">
                <a:solidFill>
                  <a:schemeClr val="bg1"/>
                </a:solidFill>
              </a:rPr>
              <a:t>Chrome Extension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Html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JS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JSON</a:t>
            </a:r>
            <a:endParaRPr lang="en-GB" sz="2400" dirty="0">
              <a:solidFill>
                <a:schemeClr val="bg1"/>
              </a:solidFill>
            </a:endParaRPr>
          </a:p>
          <a:p>
            <a:pPr algn="ctr"/>
            <a:r>
              <a:rPr lang="en-GB" sz="2400" b="1" dirty="0">
                <a:solidFill>
                  <a:schemeClr val="bg1"/>
                </a:solidFill>
              </a:rPr>
              <a:t>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Python</a:t>
            </a:r>
            <a:endParaRPr lang="en-GB" sz="20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SQL Lite</a:t>
            </a:r>
            <a:endParaRPr lang="en-GB" sz="2000" dirty="0">
              <a:solidFill>
                <a:schemeClr val="bg1"/>
              </a:solidFill>
            </a:endParaRPr>
          </a:p>
        </p:txBody>
      </p:sp>
      <p:pic>
        <p:nvPicPr>
          <p:cNvPr id="1035" name="Picture 1034">
            <a:extLst>
              <a:ext uri="{FF2B5EF4-FFF2-40B4-BE49-F238E27FC236}">
                <a16:creationId xmlns:a16="http://schemas.microsoft.com/office/drawing/2014/main" id="{A507527C-6F49-65D0-0972-7281B8E7B6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115" y="18029436"/>
            <a:ext cx="5437684" cy="2446960"/>
          </a:xfrm>
          <a:prstGeom prst="rect">
            <a:avLst/>
          </a:prstGeom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13184892-CB6E-F30E-E03D-2627916B34DE}"/>
              </a:ext>
            </a:extLst>
          </p:cNvPr>
          <p:cNvSpPr/>
          <p:nvPr/>
        </p:nvSpPr>
        <p:spPr>
          <a:xfrm>
            <a:off x="9391713" y="1252005"/>
            <a:ext cx="11065217" cy="196067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u="sng" dirty="0"/>
              <a:t>What is it and what does it solve?</a:t>
            </a:r>
          </a:p>
          <a:p>
            <a:r>
              <a:rPr lang="en-GB" sz="2800" dirty="0"/>
              <a:t>Phish Hussar uses a variety of algorithms and databases to calculate the risk of an email. Present the risk information to a user to prevent the possible attack and teach them of the risk posed to them.</a:t>
            </a: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305908D4-9C09-001F-7E29-345D997C6040}"/>
              </a:ext>
            </a:extLst>
          </p:cNvPr>
          <p:cNvSpPr/>
          <p:nvPr/>
        </p:nvSpPr>
        <p:spPr>
          <a:xfrm>
            <a:off x="15491295" y="3386195"/>
            <a:ext cx="4806338" cy="260290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u="sng" dirty="0"/>
              <a:t>Target Market</a:t>
            </a:r>
          </a:p>
          <a:p>
            <a:pPr algn="ctr"/>
            <a:r>
              <a:rPr lang="en-GB" sz="2400" dirty="0"/>
              <a:t>Users with Email</a:t>
            </a:r>
          </a:p>
          <a:p>
            <a:pPr algn="ctr"/>
            <a:r>
              <a:rPr lang="en-GB" sz="2400" dirty="0"/>
              <a:t>Users aged 40+</a:t>
            </a:r>
            <a:br>
              <a:rPr lang="en-GB" sz="2400" dirty="0"/>
            </a:br>
            <a:r>
              <a:rPr lang="en-GB" sz="2400" dirty="0"/>
              <a:t>Tech Illiterate</a:t>
            </a:r>
          </a:p>
          <a:p>
            <a:pPr algn="ctr"/>
            <a:r>
              <a:rPr lang="en-GB" sz="2400" dirty="0"/>
              <a:t>Needing Low-cost software</a:t>
            </a:r>
          </a:p>
        </p:txBody>
      </p: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AC668410-1F79-885D-B85F-D780806CE0FB}"/>
              </a:ext>
            </a:extLst>
          </p:cNvPr>
          <p:cNvGrpSpPr/>
          <p:nvPr/>
        </p:nvGrpSpPr>
        <p:grpSpPr>
          <a:xfrm>
            <a:off x="1601326" y="14547718"/>
            <a:ext cx="5801583" cy="2801946"/>
            <a:chOff x="2913792" y="10519822"/>
            <a:chExt cx="5801583" cy="2801946"/>
          </a:xfrm>
          <a:solidFill>
            <a:srgbClr val="C00000"/>
          </a:solidFill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4970266-D1AE-77E3-1EFD-B526DBB70D97}"/>
                </a:ext>
              </a:extLst>
            </p:cNvPr>
            <p:cNvGrpSpPr/>
            <p:nvPr/>
          </p:nvGrpSpPr>
          <p:grpSpPr>
            <a:xfrm>
              <a:off x="2913792" y="10519822"/>
              <a:ext cx="5801583" cy="2801946"/>
              <a:chOff x="350447" y="4383335"/>
              <a:chExt cx="1750060" cy="852379"/>
            </a:xfrm>
            <a:grpFill/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356323BE-E62D-26A4-890E-633B3DB5539F}"/>
                  </a:ext>
                </a:extLst>
              </p:cNvPr>
              <p:cNvSpPr/>
              <p:nvPr/>
            </p:nvSpPr>
            <p:spPr>
              <a:xfrm>
                <a:off x="350447" y="4383335"/>
                <a:ext cx="1750060" cy="85237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D1A42C90-BD5C-02D9-2B60-A8B6DE19BA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5735" t="24099" r="61443" b="61245"/>
              <a:stretch>
                <a:fillRect/>
              </a:stretch>
            </p:blipFill>
            <p:spPr>
              <a:xfrm>
                <a:off x="455141" y="4537003"/>
                <a:ext cx="1557764" cy="629121"/>
              </a:xfrm>
              <a:prstGeom prst="rect">
                <a:avLst/>
              </a:prstGeom>
              <a:grpFill/>
            </p:spPr>
          </p:pic>
        </p:grp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4627FDD9-0F0B-5F92-41DF-68BBD0C47D02}"/>
                </a:ext>
              </a:extLst>
            </p:cNvPr>
            <p:cNvSpPr txBox="1"/>
            <p:nvPr/>
          </p:nvSpPr>
          <p:spPr>
            <a:xfrm>
              <a:off x="4562872" y="10591047"/>
              <a:ext cx="3005861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User Feedback UI</a:t>
              </a:r>
            </a:p>
          </p:txBody>
        </p:sp>
      </p:grpSp>
      <p:sp>
        <p:nvSpPr>
          <p:cNvPr id="1045" name="TextBox 1044">
            <a:extLst>
              <a:ext uri="{FF2B5EF4-FFF2-40B4-BE49-F238E27FC236}">
                <a16:creationId xmlns:a16="http://schemas.microsoft.com/office/drawing/2014/main" id="{5F22CE60-B10D-860C-1468-3675C72F01B3}"/>
              </a:ext>
            </a:extLst>
          </p:cNvPr>
          <p:cNvSpPr txBox="1"/>
          <p:nvPr/>
        </p:nvSpPr>
        <p:spPr>
          <a:xfrm>
            <a:off x="3427091" y="17477466"/>
            <a:ext cx="56408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chemeClr val="bg1"/>
                </a:solidFill>
              </a:rPr>
              <a:t>Phish Hussar – The Extension </a:t>
            </a: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79618B95-431C-8489-ED24-0C4E37D3ACEB}"/>
              </a:ext>
            </a:extLst>
          </p:cNvPr>
          <p:cNvSpPr/>
          <p:nvPr/>
        </p:nvSpPr>
        <p:spPr>
          <a:xfrm>
            <a:off x="439347" y="9592949"/>
            <a:ext cx="2670132" cy="1666746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VirusTotal – </a:t>
            </a:r>
            <a:r>
              <a:rPr lang="en-GB" dirty="0">
                <a:solidFill>
                  <a:schemeClr val="tx1"/>
                </a:solidFill>
              </a:rPr>
              <a:t>independent database with a compilation of risk assessments by different companies</a:t>
            </a:r>
            <a:endParaRPr lang="en-GB" sz="2800" dirty="0">
              <a:solidFill>
                <a:schemeClr val="tx1"/>
              </a:solidFill>
            </a:endParaRPr>
          </a:p>
        </p:txBody>
      </p:sp>
      <p:cxnSp>
        <p:nvCxnSpPr>
          <p:cNvPr id="1050" name="Connector: Elbow 1049">
            <a:extLst>
              <a:ext uri="{FF2B5EF4-FFF2-40B4-BE49-F238E27FC236}">
                <a16:creationId xmlns:a16="http://schemas.microsoft.com/office/drawing/2014/main" id="{12CA2303-A0B2-DFCC-B95D-115DF130ECFB}"/>
              </a:ext>
            </a:extLst>
          </p:cNvPr>
          <p:cNvCxnSpPr>
            <a:cxnSpLocks/>
            <a:stCxn id="73" idx="2"/>
            <a:endCxn id="88" idx="0"/>
          </p:cNvCxnSpPr>
          <p:nvPr/>
        </p:nvCxnSpPr>
        <p:spPr>
          <a:xfrm rot="5400000">
            <a:off x="10882841" y="11442980"/>
            <a:ext cx="809687" cy="401134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593FAAF1-744B-1696-72A2-EA9054EA0C21}"/>
              </a:ext>
            </a:extLst>
          </p:cNvPr>
          <p:cNvSpPr/>
          <p:nvPr/>
        </p:nvSpPr>
        <p:spPr>
          <a:xfrm>
            <a:off x="12191514" y="7904625"/>
            <a:ext cx="2352665" cy="2099246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WHOIS – </a:t>
            </a:r>
            <a:r>
              <a:rPr lang="en-GB" dirty="0">
                <a:solidFill>
                  <a:schemeClr val="tx1"/>
                </a:solidFill>
              </a:rPr>
              <a:t>provides data regarding registration and hosting of a webpage. Gathered from registrars and registries. </a:t>
            </a:r>
            <a:endParaRPr lang="en-GB" sz="2800" dirty="0">
              <a:solidFill>
                <a:schemeClr val="tx1"/>
              </a:solidFill>
            </a:endParaRP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FD5E1BBA-B5EA-7EB0-B900-A5B4DCB95209}"/>
              </a:ext>
            </a:extLst>
          </p:cNvPr>
          <p:cNvCxnSpPr>
            <a:cxnSpLocks/>
            <a:stCxn id="110" idx="0"/>
            <a:endCxn id="113" idx="2"/>
          </p:cNvCxnSpPr>
          <p:nvPr/>
        </p:nvCxnSpPr>
        <p:spPr>
          <a:xfrm rot="16200000" flipV="1">
            <a:off x="12802539" y="4546161"/>
            <a:ext cx="727031" cy="585250"/>
          </a:xfrm>
          <a:prstGeom prst="bentConnector3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Connector: Elbow 1114">
            <a:extLst>
              <a:ext uri="{FF2B5EF4-FFF2-40B4-BE49-F238E27FC236}">
                <a16:creationId xmlns:a16="http://schemas.microsoft.com/office/drawing/2014/main" id="{EA72E2BD-DE24-317D-0D22-F622B2B08E49}"/>
              </a:ext>
            </a:extLst>
          </p:cNvPr>
          <p:cNvCxnSpPr>
            <a:stCxn id="77" idx="3"/>
            <a:endCxn id="87" idx="0"/>
          </p:cNvCxnSpPr>
          <p:nvPr/>
        </p:nvCxnSpPr>
        <p:spPr>
          <a:xfrm flipH="1">
            <a:off x="8747840" y="8772282"/>
            <a:ext cx="2253760" cy="1392172"/>
          </a:xfrm>
          <a:prstGeom prst="bentConnector4">
            <a:avLst>
              <a:gd name="adj1" fmla="val -10143"/>
              <a:gd name="adj2" fmla="val 59648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98" name="Connector: Elbow 1197">
            <a:extLst>
              <a:ext uri="{FF2B5EF4-FFF2-40B4-BE49-F238E27FC236}">
                <a16:creationId xmlns:a16="http://schemas.microsoft.com/office/drawing/2014/main" id="{A72DB497-7CB0-EB5E-4AEF-580FACFF808E}"/>
              </a:ext>
            </a:extLst>
          </p:cNvPr>
          <p:cNvCxnSpPr>
            <a:cxnSpLocks/>
            <a:stCxn id="88" idx="2"/>
            <a:endCxn id="93" idx="2"/>
          </p:cNvCxnSpPr>
          <p:nvPr/>
        </p:nvCxnSpPr>
        <p:spPr>
          <a:xfrm rot="5400000">
            <a:off x="7832351" y="10458344"/>
            <a:ext cx="122760" cy="6386772"/>
          </a:xfrm>
          <a:prstGeom prst="bentConnector3">
            <a:avLst>
              <a:gd name="adj1" fmla="val 286217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8" name="Connector: Elbow 1207">
            <a:extLst>
              <a:ext uri="{FF2B5EF4-FFF2-40B4-BE49-F238E27FC236}">
                <a16:creationId xmlns:a16="http://schemas.microsoft.com/office/drawing/2014/main" id="{12C5BD48-A4B4-AC2F-17D5-C90488EBBC89}"/>
              </a:ext>
            </a:extLst>
          </p:cNvPr>
          <p:cNvCxnSpPr>
            <a:cxnSpLocks/>
            <a:stCxn id="87" idx="2"/>
            <a:endCxn id="93" idx="3"/>
          </p:cNvCxnSpPr>
          <p:nvPr/>
        </p:nvCxnSpPr>
        <p:spPr>
          <a:xfrm rot="5400000">
            <a:off x="6852536" y="10876907"/>
            <a:ext cx="952061" cy="2838549"/>
          </a:xfrm>
          <a:prstGeom prst="bentConnector2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0" name="Straight Connector 1219">
            <a:extLst>
              <a:ext uri="{FF2B5EF4-FFF2-40B4-BE49-F238E27FC236}">
                <a16:creationId xmlns:a16="http://schemas.microsoft.com/office/drawing/2014/main" id="{2A51F3DE-D171-5155-9612-263E7740EEC3}"/>
              </a:ext>
            </a:extLst>
          </p:cNvPr>
          <p:cNvCxnSpPr>
            <a:cxnSpLocks/>
            <a:stCxn id="74" idx="1"/>
            <a:endCxn id="1046" idx="3"/>
          </p:cNvCxnSpPr>
          <p:nvPr/>
        </p:nvCxnSpPr>
        <p:spPr>
          <a:xfrm flipH="1">
            <a:off x="3109479" y="10365853"/>
            <a:ext cx="1639484" cy="60469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24" name="Straight Connector 1223">
            <a:extLst>
              <a:ext uri="{FF2B5EF4-FFF2-40B4-BE49-F238E27FC236}">
                <a16:creationId xmlns:a16="http://schemas.microsoft.com/office/drawing/2014/main" id="{EAE5481C-B033-7756-278E-E0F8BD2B8ED9}"/>
              </a:ext>
            </a:extLst>
          </p:cNvPr>
          <p:cNvCxnSpPr>
            <a:stCxn id="73" idx="3"/>
            <a:endCxn id="1054" idx="2"/>
          </p:cNvCxnSpPr>
          <p:nvPr/>
        </p:nvCxnSpPr>
        <p:spPr>
          <a:xfrm flipV="1">
            <a:off x="12421716" y="10003871"/>
            <a:ext cx="946131" cy="867090"/>
          </a:xfrm>
          <a:prstGeom prst="line">
            <a:avLst/>
          </a:prstGeom>
          <a:ln w="19050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28" name="Connector: Elbow 1227">
            <a:extLst>
              <a:ext uri="{FF2B5EF4-FFF2-40B4-BE49-F238E27FC236}">
                <a16:creationId xmlns:a16="http://schemas.microsoft.com/office/drawing/2014/main" id="{0DB8F0F6-7685-A6E3-0A93-5749E795CE9B}"/>
              </a:ext>
            </a:extLst>
          </p:cNvPr>
          <p:cNvCxnSpPr>
            <a:stCxn id="14" idx="3"/>
            <a:endCxn id="20" idx="1"/>
          </p:cNvCxnSpPr>
          <p:nvPr/>
        </p:nvCxnSpPr>
        <p:spPr>
          <a:xfrm>
            <a:off x="4103441" y="4013846"/>
            <a:ext cx="4802711" cy="50230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9" name="Rectangle 1228">
            <a:extLst>
              <a:ext uri="{FF2B5EF4-FFF2-40B4-BE49-F238E27FC236}">
                <a16:creationId xmlns:a16="http://schemas.microsoft.com/office/drawing/2014/main" id="{08B7FB64-B981-9327-95FB-17B80E4CFB31}"/>
              </a:ext>
            </a:extLst>
          </p:cNvPr>
          <p:cNvSpPr/>
          <p:nvPr/>
        </p:nvSpPr>
        <p:spPr>
          <a:xfrm>
            <a:off x="158131" y="11515270"/>
            <a:ext cx="2670132" cy="280194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Website Protocol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Domain name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Path/extensions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Age of website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Certificate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Expiation Date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Virus total score</a:t>
            </a:r>
          </a:p>
          <a:p>
            <a:pPr marL="342900" indent="-342900" algn="ctr">
              <a:buAutoNum type="arabicPeriod"/>
            </a:pPr>
            <a:r>
              <a:rPr lang="en-GB" sz="2000" dirty="0">
                <a:solidFill>
                  <a:schemeClr val="tx1"/>
                </a:solidFill>
              </a:rPr>
              <a:t>URL redirects </a:t>
            </a:r>
            <a:r>
              <a:rPr lang="en-GB" sz="2000" dirty="0" err="1">
                <a:solidFill>
                  <a:schemeClr val="tx1"/>
                </a:solidFill>
              </a:rPr>
              <a:t>num</a:t>
            </a:r>
            <a:endParaRPr lang="en-GB" sz="2000" dirty="0">
              <a:solidFill>
                <a:schemeClr val="tx1"/>
              </a:solidFill>
            </a:endParaRPr>
          </a:p>
        </p:txBody>
      </p:sp>
      <p:cxnSp>
        <p:nvCxnSpPr>
          <p:cNvPr id="1231" name="Straight Connector 1230">
            <a:extLst>
              <a:ext uri="{FF2B5EF4-FFF2-40B4-BE49-F238E27FC236}">
                <a16:creationId xmlns:a16="http://schemas.microsoft.com/office/drawing/2014/main" id="{9B6CFE2F-C36F-7C89-0540-78FBE56DE1DB}"/>
              </a:ext>
            </a:extLst>
          </p:cNvPr>
          <p:cNvCxnSpPr/>
          <p:nvPr/>
        </p:nvCxnSpPr>
        <p:spPr>
          <a:xfrm>
            <a:off x="2892430" y="12048391"/>
            <a:ext cx="598968" cy="242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C0C05E5E-99C1-C717-FD52-FE16A2691E43}"/>
              </a:ext>
            </a:extLst>
          </p:cNvPr>
          <p:cNvGrpSpPr/>
          <p:nvPr/>
        </p:nvGrpSpPr>
        <p:grpSpPr>
          <a:xfrm>
            <a:off x="20739611" y="1710307"/>
            <a:ext cx="8976030" cy="7143676"/>
            <a:chOff x="19813562" y="1072272"/>
            <a:chExt cx="8976030" cy="7143676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39A813B8-5F11-6D53-A572-65C04FFC0AEC}"/>
                </a:ext>
              </a:extLst>
            </p:cNvPr>
            <p:cNvGrpSpPr/>
            <p:nvPr/>
          </p:nvGrpSpPr>
          <p:grpSpPr>
            <a:xfrm>
              <a:off x="19843786" y="1072273"/>
              <a:ext cx="8945806" cy="4557800"/>
              <a:chOff x="7457096" y="257175"/>
              <a:chExt cx="3315680" cy="2054225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B323E9C1-097C-7F24-82AB-1D29B9A44372}"/>
                  </a:ext>
                </a:extLst>
              </p:cNvPr>
              <p:cNvSpPr/>
              <p:nvPr/>
            </p:nvSpPr>
            <p:spPr>
              <a:xfrm>
                <a:off x="7457096" y="257175"/>
                <a:ext cx="3315680" cy="2054225"/>
              </a:xfrm>
              <a:prstGeom prst="rect">
                <a:avLst/>
              </a:prstGeom>
              <a:grpFill/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69727010-BEAE-97BF-5264-C768C78BDD70}"/>
                  </a:ext>
                </a:extLst>
              </p:cNvPr>
              <p:cNvGrpSpPr/>
              <p:nvPr/>
            </p:nvGrpSpPr>
            <p:grpSpPr>
              <a:xfrm>
                <a:off x="7510228" y="380542"/>
                <a:ext cx="3189031" cy="1839611"/>
                <a:chOff x="7510228" y="380542"/>
                <a:chExt cx="3189031" cy="1839611"/>
              </a:xfrm>
              <a:grpFill/>
            </p:grpSpPr>
            <p:pic>
              <p:nvPicPr>
                <p:cNvPr id="123" name="Picture 122">
                  <a:extLst>
                    <a:ext uri="{FF2B5EF4-FFF2-40B4-BE49-F238E27FC236}">
                      <a16:creationId xmlns:a16="http://schemas.microsoft.com/office/drawing/2014/main" id="{54361CC6-C7B6-7DDD-959E-2FDDF45180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30612" y="380542"/>
                  <a:ext cx="3168647" cy="1637058"/>
                </a:xfrm>
                <a:prstGeom prst="rect">
                  <a:avLst/>
                </a:prstGeom>
                <a:grpFill/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</p:pic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3B4DE68B-5288-4443-8A72-E9C43A4EC4A4}"/>
                    </a:ext>
                  </a:extLst>
                </p:cNvPr>
                <p:cNvSpPr txBox="1"/>
                <p:nvPr/>
              </p:nvSpPr>
              <p:spPr>
                <a:xfrm>
                  <a:off x="7510228" y="2012078"/>
                  <a:ext cx="3009901" cy="208075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400" dirty="0">
                      <a:solidFill>
                        <a:schemeClr val="bg1"/>
                      </a:solidFill>
                    </a:rPr>
                    <a:t>- CSBS 2019-2025 (Phishing attacks)</a:t>
                  </a:r>
                </a:p>
              </p:txBody>
            </p:sp>
          </p:grpSp>
        </p:grp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E75A96B6-F054-56E7-D8EE-5276A7700385}"/>
                </a:ext>
              </a:extLst>
            </p:cNvPr>
            <p:cNvSpPr/>
            <p:nvPr/>
          </p:nvSpPr>
          <p:spPr>
            <a:xfrm>
              <a:off x="19872650" y="5809792"/>
              <a:ext cx="2701600" cy="15021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Most Targeted</a:t>
              </a:r>
            </a:p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Ages 21-35</a:t>
              </a:r>
            </a:p>
          </p:txBody>
        </p:sp>
        <p:pic>
          <p:nvPicPr>
            <p:cNvPr id="1028" name="Picture 4" descr="Target PNG transparent image download, size: 576x576px">
              <a:extLst>
                <a:ext uri="{FF2B5EF4-FFF2-40B4-BE49-F238E27FC236}">
                  <a16:creationId xmlns:a16="http://schemas.microsoft.com/office/drawing/2014/main" id="{50401D76-0120-227F-41A0-7F5BA66DA5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alphaModFix amt="4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30917" y="5365431"/>
              <a:ext cx="2302643" cy="2302643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021A4DB6-F017-B5ED-3703-2D9B3B1F0F17}"/>
                </a:ext>
              </a:extLst>
            </p:cNvPr>
            <p:cNvSpPr/>
            <p:nvPr/>
          </p:nvSpPr>
          <p:spPr>
            <a:xfrm>
              <a:off x="22955460" y="5753157"/>
              <a:ext cx="2701599" cy="1591370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Most Gullible</a:t>
              </a:r>
            </a:p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Ages 35-49</a:t>
              </a:r>
            </a:p>
          </p:txBody>
        </p:sp>
        <p:pic>
          <p:nvPicPr>
            <p:cNvPr id="1030" name="Picture 6" descr="Free Phishing Attack Icon - Download SVG, PNG for Crime &amp; Security |  IconScout">
              <a:extLst>
                <a:ext uri="{FF2B5EF4-FFF2-40B4-BE49-F238E27FC236}">
                  <a16:creationId xmlns:a16="http://schemas.microsoft.com/office/drawing/2014/main" id="{01462B03-6E38-B30C-535F-74D3971AC8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alphaModFix am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90228" y="5545055"/>
              <a:ext cx="1909698" cy="1909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71738483-8CAA-1A99-C318-39B8CC162B0E}"/>
                </a:ext>
              </a:extLst>
            </p:cNvPr>
            <p:cNvSpPr/>
            <p:nvPr/>
          </p:nvSpPr>
          <p:spPr>
            <a:xfrm>
              <a:off x="26025047" y="5781969"/>
              <a:ext cx="2764545" cy="1591370"/>
            </a:xfrm>
            <a:prstGeom prst="rec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Most Financial Losses</a:t>
              </a:r>
            </a:p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Ages 75+</a:t>
              </a:r>
            </a:p>
          </p:txBody>
        </p:sp>
        <p:pic>
          <p:nvPicPr>
            <p:cNvPr id="1032" name="Picture 8" descr="Money bag with hole 35774809 PNG">
              <a:extLst>
                <a:ext uri="{FF2B5EF4-FFF2-40B4-BE49-F238E27FC236}">
                  <a16:creationId xmlns:a16="http://schemas.microsoft.com/office/drawing/2014/main" id="{36A55BC7-ADAD-C034-5D3C-2F902F24FC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alphaModFix amt="3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0716"/>
            <a:stretch>
              <a:fillRect/>
            </a:stretch>
          </p:blipFill>
          <p:spPr bwMode="auto">
            <a:xfrm>
              <a:off x="26353162" y="5684191"/>
              <a:ext cx="2108314" cy="21038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8577361A-E43E-2D25-A0C1-CB77FA47B13A}"/>
                </a:ext>
              </a:extLst>
            </p:cNvPr>
            <p:cNvSpPr/>
            <p:nvPr/>
          </p:nvSpPr>
          <p:spPr>
            <a:xfrm>
              <a:off x="19813562" y="7657207"/>
              <a:ext cx="8976030" cy="5407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Data from LexisNexis.co.uk &amp; Ons.gov.uk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5F6BDE-AB73-715A-8CAA-05E59A82C86B}"/>
                </a:ext>
              </a:extLst>
            </p:cNvPr>
            <p:cNvSpPr/>
            <p:nvPr/>
          </p:nvSpPr>
          <p:spPr>
            <a:xfrm>
              <a:off x="19843785" y="1072272"/>
              <a:ext cx="8945807" cy="71436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045BC30-3BBC-9A36-30BE-A3D93AD377AC}"/>
              </a:ext>
            </a:extLst>
          </p:cNvPr>
          <p:cNvGrpSpPr/>
          <p:nvPr/>
        </p:nvGrpSpPr>
        <p:grpSpPr>
          <a:xfrm>
            <a:off x="19059963" y="18287833"/>
            <a:ext cx="12142398" cy="4316852"/>
            <a:chOff x="19059963" y="18287833"/>
            <a:chExt cx="12142398" cy="431685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BB0EBDA-468B-8D03-D601-CE63FAC44A75}"/>
                </a:ext>
              </a:extLst>
            </p:cNvPr>
            <p:cNvGrpSpPr/>
            <p:nvPr/>
          </p:nvGrpSpPr>
          <p:grpSpPr>
            <a:xfrm>
              <a:off x="19059963" y="18287833"/>
              <a:ext cx="11237475" cy="4316852"/>
              <a:chOff x="19059963" y="18287833"/>
              <a:chExt cx="11237475" cy="4316852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3A783F-41F7-39C9-6B4F-9F52025C9097}"/>
                  </a:ext>
                </a:extLst>
              </p:cNvPr>
              <p:cNvSpPr/>
              <p:nvPr/>
            </p:nvSpPr>
            <p:spPr>
              <a:xfrm>
                <a:off x="19059963" y="19480319"/>
                <a:ext cx="11237475" cy="1931881"/>
              </a:xfrm>
              <a:prstGeom prst="rect">
                <a:avLst/>
              </a:prstGeom>
              <a:gradFill>
                <a:gsLst>
                  <a:gs pos="16000">
                    <a:srgbClr val="005AAA"/>
                  </a:gs>
                  <a:gs pos="33000">
                    <a:srgbClr val="F2DF90"/>
                  </a:gs>
                  <a:gs pos="47000">
                    <a:srgbClr val="D93325"/>
                  </a:gs>
                  <a:gs pos="79000">
                    <a:srgbClr val="005AAA"/>
                  </a:gs>
                  <a:gs pos="59000">
                    <a:srgbClr val="F2DF90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026" name="Picture 2" descr="University of Plymouth Logo - PNG Logo Vector Brand Downloads (SVG, EPS)">
                <a:extLst>
                  <a:ext uri="{FF2B5EF4-FFF2-40B4-BE49-F238E27FC236}">
                    <a16:creationId xmlns:a16="http://schemas.microsoft.com/office/drawing/2014/main" id="{6C669D39-B892-CFD8-C26C-C5F8131A84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061609" y="18287833"/>
                <a:ext cx="6906963" cy="43168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1544AC-126C-1484-84D0-DE839048E8FA}"/>
                </a:ext>
              </a:extLst>
            </p:cNvPr>
            <p:cNvSpPr txBox="1"/>
            <p:nvPr/>
          </p:nvSpPr>
          <p:spPr>
            <a:xfrm>
              <a:off x="25968572" y="20047848"/>
              <a:ext cx="523378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000" dirty="0"/>
                <a:t>Nikodem Drabik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FFDA77F-92FA-9357-41D8-38D46FC74FFA}"/>
              </a:ext>
            </a:extLst>
          </p:cNvPr>
          <p:cNvSpPr/>
          <p:nvPr/>
        </p:nvSpPr>
        <p:spPr>
          <a:xfrm>
            <a:off x="206033" y="1573268"/>
            <a:ext cx="8846296" cy="915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i="1" u="sng" dirty="0"/>
              <a:t>Scam Email – How does Phish Hussar Work?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C2450E-B218-50DE-AF4A-A2CC65C2A3C0}"/>
              </a:ext>
            </a:extLst>
          </p:cNvPr>
          <p:cNvSpPr/>
          <p:nvPr/>
        </p:nvSpPr>
        <p:spPr>
          <a:xfrm>
            <a:off x="15486466" y="9715984"/>
            <a:ext cx="9221526" cy="53465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06F018-BCB9-6A00-7358-F544C8E79599}"/>
              </a:ext>
            </a:extLst>
          </p:cNvPr>
          <p:cNvSpPr/>
          <p:nvPr/>
        </p:nvSpPr>
        <p:spPr>
          <a:xfrm>
            <a:off x="15913016" y="11229520"/>
            <a:ext cx="5546808" cy="19334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598396-84C9-C702-6B31-A8C51F452AF1}"/>
              </a:ext>
            </a:extLst>
          </p:cNvPr>
          <p:cNvSpPr/>
          <p:nvPr/>
        </p:nvSpPr>
        <p:spPr>
          <a:xfrm>
            <a:off x="19019995" y="11626865"/>
            <a:ext cx="2161990" cy="1159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Extension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1DAF6C-8C2F-CA04-E420-D6B8229BABAD}"/>
              </a:ext>
            </a:extLst>
          </p:cNvPr>
          <p:cNvSpPr/>
          <p:nvPr/>
        </p:nvSpPr>
        <p:spPr>
          <a:xfrm>
            <a:off x="16302845" y="11635896"/>
            <a:ext cx="2151102" cy="1159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Gmail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4E161D-6C31-FC1D-0714-BAFE4A1E4624}"/>
              </a:ext>
            </a:extLst>
          </p:cNvPr>
          <p:cNvSpPr/>
          <p:nvPr/>
        </p:nvSpPr>
        <p:spPr>
          <a:xfrm>
            <a:off x="21705970" y="10480153"/>
            <a:ext cx="2890998" cy="431252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E73578-EF98-DD57-16F9-3156BA6E658F}"/>
              </a:ext>
            </a:extLst>
          </p:cNvPr>
          <p:cNvSpPr/>
          <p:nvPr/>
        </p:nvSpPr>
        <p:spPr>
          <a:xfrm>
            <a:off x="21763120" y="10567989"/>
            <a:ext cx="2777992" cy="1302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WHOIS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A1CD70-DD51-BF7D-BCDB-1C3A57386340}"/>
              </a:ext>
            </a:extLst>
          </p:cNvPr>
          <p:cNvSpPr/>
          <p:nvPr/>
        </p:nvSpPr>
        <p:spPr>
          <a:xfrm>
            <a:off x="21780201" y="11991309"/>
            <a:ext cx="2777992" cy="1302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HUSSAR</a:t>
            </a:r>
            <a:r>
              <a:rPr lang="en-GB" sz="4000" dirty="0"/>
              <a:t> </a:t>
            </a:r>
            <a:r>
              <a:rPr lang="en-GB" sz="2400" dirty="0"/>
              <a:t>API</a:t>
            </a:r>
            <a:endParaRPr lang="en-GB" sz="6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E19174-A7B5-34C1-6FE2-5B38F22B1C01}"/>
              </a:ext>
            </a:extLst>
          </p:cNvPr>
          <p:cNvSpPr/>
          <p:nvPr/>
        </p:nvSpPr>
        <p:spPr>
          <a:xfrm>
            <a:off x="21763120" y="13404673"/>
            <a:ext cx="2777992" cy="1302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VIRUSTOTAL</a:t>
            </a:r>
            <a:endParaRPr lang="en-GB" sz="6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005B7D-DC5A-63A5-D6DF-740865A2D447}"/>
              </a:ext>
            </a:extLst>
          </p:cNvPr>
          <p:cNvSpPr txBox="1"/>
          <p:nvPr/>
        </p:nvSpPr>
        <p:spPr>
          <a:xfrm>
            <a:off x="17126726" y="10348655"/>
            <a:ext cx="2670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FRONT END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CE5613-08C0-2AB0-22E3-C5B5124A20CC}"/>
              </a:ext>
            </a:extLst>
          </p:cNvPr>
          <p:cNvSpPr txBox="1"/>
          <p:nvPr/>
        </p:nvSpPr>
        <p:spPr>
          <a:xfrm>
            <a:off x="21929999" y="9810851"/>
            <a:ext cx="2777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API Backend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7E335A4-9B45-C68A-320B-1699C776F6B3}"/>
              </a:ext>
            </a:extLst>
          </p:cNvPr>
          <p:cNvSpPr/>
          <p:nvPr/>
        </p:nvSpPr>
        <p:spPr>
          <a:xfrm>
            <a:off x="25195270" y="10003871"/>
            <a:ext cx="4666999" cy="470416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u="sng" dirty="0"/>
              <a:t>MVP Target Metrics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85% &lt;= flagged phishing attempts using test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Deployable to Beta Users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&gt;= 10% False Positives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English Language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Gmail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36EC0F7-782A-CE83-4423-9FCEA42FFB1E}"/>
              </a:ext>
            </a:extLst>
          </p:cNvPr>
          <p:cNvSpPr/>
          <p:nvPr/>
        </p:nvSpPr>
        <p:spPr>
          <a:xfrm>
            <a:off x="15647863" y="15672243"/>
            <a:ext cx="6602928" cy="3385813"/>
          </a:xfrm>
          <a:prstGeom prst="rect">
            <a:avLst/>
          </a:prstGeom>
          <a:solidFill>
            <a:srgbClr val="1048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u="sng" dirty="0"/>
              <a:t>Datasets</a:t>
            </a:r>
          </a:p>
          <a:p>
            <a:pPr algn="ctr"/>
            <a:r>
              <a:rPr lang="en-GB" sz="2800" dirty="0"/>
              <a:t>Phishing  Dataset on Kaggle by Text Analytics</a:t>
            </a:r>
          </a:p>
          <a:p>
            <a:pPr algn="ctr"/>
            <a:r>
              <a:rPr lang="en-GB" sz="2800" dirty="0"/>
              <a:t>Phisng_Pot dataset by </a:t>
            </a:r>
            <a:r>
              <a:rPr lang="en-GB" sz="2800" dirty="0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rf-</a:t>
            </a:r>
            <a:r>
              <a:rPr lang="en-GB" sz="2800" dirty="0" err="1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peixoto</a:t>
            </a:r>
            <a:r>
              <a:rPr lang="en-GB" sz="2800" dirty="0"/>
              <a:t> on GitHub</a:t>
            </a:r>
          </a:p>
          <a:p>
            <a:pPr algn="ctr"/>
            <a:r>
              <a:rPr lang="en-GB" sz="2800" dirty="0"/>
              <a:t>Phishing Dataset on </a:t>
            </a:r>
            <a:r>
              <a:rPr lang="en-GB" sz="2800" dirty="0" err="1"/>
              <a:t>Keggle</a:t>
            </a:r>
            <a:r>
              <a:rPr lang="en-GB" sz="2800" dirty="0"/>
              <a:t> by </a:t>
            </a:r>
            <a:r>
              <a:rPr lang="en-GB" sz="2800" dirty="0" err="1"/>
              <a:t>naserabdullahalam</a:t>
            </a:r>
            <a:endParaRPr lang="en-GB" sz="28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B938F9-7B57-5689-8B8F-37F29E707EE6}"/>
              </a:ext>
            </a:extLst>
          </p:cNvPr>
          <p:cNvSpPr/>
          <p:nvPr/>
        </p:nvSpPr>
        <p:spPr>
          <a:xfrm>
            <a:off x="23398617" y="15417738"/>
            <a:ext cx="6602928" cy="3758689"/>
          </a:xfrm>
          <a:prstGeom prst="rect">
            <a:avLst/>
          </a:prstGeom>
          <a:solidFill>
            <a:srgbClr val="1048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u="sng" dirty="0"/>
              <a:t>Aims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GB" sz="2400" dirty="0"/>
              <a:t>Compile emails by Phishing and non phishing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GB" sz="2400" dirty="0"/>
              <a:t>Analyse frequency of words in Phishing and Normal emails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GB" sz="2400" dirty="0"/>
              <a:t>Perform Risk assessment based on the difference.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GB" sz="2400" dirty="0"/>
              <a:t>Certain language more present in fishing indicate they are phishing emails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CC831B-7F08-1C5E-EAB5-E286F13AFC40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18173700" y="12183475"/>
            <a:ext cx="846295" cy="23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691A195-FA8E-AB7B-54C0-ABD08F0566A2}"/>
              </a:ext>
            </a:extLst>
          </p:cNvPr>
          <p:cNvCxnSpPr>
            <a:stCxn id="23" idx="0"/>
            <a:endCxn id="26" idx="1"/>
          </p:cNvCxnSpPr>
          <p:nvPr/>
        </p:nvCxnSpPr>
        <p:spPr>
          <a:xfrm flipV="1">
            <a:off x="20100990" y="11219128"/>
            <a:ext cx="1662130" cy="4077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A9A65C7-D5A8-CB2B-7F98-BFA3BC5ED3AE}"/>
              </a:ext>
            </a:extLst>
          </p:cNvPr>
          <p:cNvCxnSpPr>
            <a:stCxn id="23" idx="3"/>
            <a:endCxn id="28" idx="1"/>
          </p:cNvCxnSpPr>
          <p:nvPr/>
        </p:nvCxnSpPr>
        <p:spPr>
          <a:xfrm>
            <a:off x="21181985" y="12206654"/>
            <a:ext cx="598216" cy="4357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5567639-08E3-DFF5-BBCC-7BDD0C1AFD1B}"/>
              </a:ext>
            </a:extLst>
          </p:cNvPr>
          <p:cNvCxnSpPr>
            <a:stCxn id="23" idx="2"/>
            <a:endCxn id="29" idx="1"/>
          </p:cNvCxnSpPr>
          <p:nvPr/>
        </p:nvCxnSpPr>
        <p:spPr>
          <a:xfrm>
            <a:off x="20100990" y="12786442"/>
            <a:ext cx="1662130" cy="12693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BF74EFAB-8C8D-504A-82B3-1067C536E951}"/>
              </a:ext>
            </a:extLst>
          </p:cNvPr>
          <p:cNvSpPr/>
          <p:nvPr/>
        </p:nvSpPr>
        <p:spPr>
          <a:xfrm>
            <a:off x="9960097" y="15710225"/>
            <a:ext cx="4411719" cy="3730114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u="sng" dirty="0">
                <a:solidFill>
                  <a:schemeClr val="bg1"/>
                </a:solidFill>
              </a:rPr>
              <a:t>Limitations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English Only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Zero-day phishing website's lower chance of detection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Lack of access to APIs may decrease accuracy</a:t>
            </a:r>
          </a:p>
        </p:txBody>
      </p:sp>
      <p:pic>
        <p:nvPicPr>
          <p:cNvPr id="58" name="Picture 2" descr="Footsteps PNGs for Free Download">
            <a:extLst>
              <a:ext uri="{FF2B5EF4-FFF2-40B4-BE49-F238E27FC236}">
                <a16:creationId xmlns:a16="http://schemas.microsoft.com/office/drawing/2014/main" id="{68ADB11E-E367-42DA-2451-530D29F66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84062">
            <a:off x="18680192" y="2505309"/>
            <a:ext cx="1733433" cy="1733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4" descr="Footsteps PNGs for Free Download">
            <a:extLst>
              <a:ext uri="{FF2B5EF4-FFF2-40B4-BE49-F238E27FC236}">
                <a16:creationId xmlns:a16="http://schemas.microsoft.com/office/drawing/2014/main" id="{33FE804E-B89F-5B57-DFD7-796F26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64482">
            <a:off x="15351066" y="5243554"/>
            <a:ext cx="1725635" cy="172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8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1406</TotalTime>
  <Words>394</Words>
  <Application>Microsoft Office PowerPoint</Application>
  <PresentationFormat>Custom</PresentationFormat>
  <Paragraphs>96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Nikodem Drabik</dc:creator>
  <cp:lastModifiedBy>(s) Nikodem Drabik</cp:lastModifiedBy>
  <cp:revision>10</cp:revision>
  <dcterms:created xsi:type="dcterms:W3CDTF">2026-03-10T14:29:27Z</dcterms:created>
  <dcterms:modified xsi:type="dcterms:W3CDTF">2026-03-15T21:50:25Z</dcterms:modified>
</cp:coreProperties>
</file>